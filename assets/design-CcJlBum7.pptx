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4862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bright_cheerful_3d_flat_3d_vector_illustrat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200711"/>
            <a:ext cx="5806440" cy="32678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315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WEB-ДИЗАЙН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58368" y="141732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7BE5"/>
                </a:solidFill>
              </a:rPr>
              <a:t>Изображения для сайта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2C7BE5"/>
                </a:solidFill>
              </a:rPr>
              <a:t>и работа в Photopea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58368" y="2816352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7364E"/>
                </a:solidFill>
              </a:rPr>
              <a:t>Форматы файлов • слои • коррекция • экспорт • GIF-анимация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562356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к концу занятия каждый сможет подготовить картинку для сайта.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web-дизайн?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не только «красиво», но и удобно, быстро, понятно.</a:t>
            </a:r>
            <a:endParaRPr lang="en-US" sz="1500" dirty="0"/>
          </a:p>
        </p:txBody>
      </p:sp>
      <p:pic>
        <p:nvPicPr>
          <p:cNvPr id="5" name="Image 0" descr="/mnt/data/wide_bright_cheerful_3d_flat_3d_vector_illustrat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798051"/>
            <a:ext cx="4983480" cy="280469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🎨 Цвет и стиль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Подбираем палитру, шрифты и настроение сайта.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315468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🧭 Удобство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Пользователь должен быстро понять, куда нажать.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3703320" y="2487168"/>
            <a:ext cx="2468880" cy="1389888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⚡ Скорость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Картинки должны быть качественными, но не слишком тяжёлыми.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5623560"/>
            <a:ext cx="109270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назовите 2 сайта, где дизайн помогает быстро найти нужное.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план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Маршрут урока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Изучаем изображения как настоящие web-дизайнеры.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2148840" cy="1005840"/>
          </a:xfrm>
          <a:prstGeom prst="roundRect">
            <a:avLst>
              <a:gd name="adj" fmla="val 8182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1488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PNG, SVG, JPG, WebP, GIF, IMG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20440" y="1874520"/>
            <a:ext cx="2148840" cy="1005840"/>
          </a:xfrm>
          <a:prstGeom prst="roundRect">
            <a:avLst>
              <a:gd name="adj" fmla="val 8182"/>
            </a:avLst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Photopea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520440" y="3063240"/>
            <a:ext cx="21488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интерфейс и простое изображение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1874520"/>
            <a:ext cx="2148840" cy="1005840"/>
          </a:xfrm>
          <a:prstGeom prst="roundRect">
            <a:avLst>
              <a:gd name="adj" fmla="val 8182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309360" y="3063240"/>
            <a:ext cx="21488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порядок, папки, коррекция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098280" y="1874520"/>
            <a:ext cx="2148840" cy="1005840"/>
          </a:xfrm>
          <a:prstGeom prst="roundRect">
            <a:avLst>
              <a:gd name="adj" fmla="val 8182"/>
            </a:avLst>
          </a:prstGeom>
          <a:solidFill>
            <a:srgbClr val="2FBF71"/>
          </a:solidFill>
          <a:ln>
            <a:solidFill>
              <a:srgbClr val="2FBF71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+ GIF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98280" y="3063240"/>
            <a:ext cx="214884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экспорт, оптимизация, анимация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Тема 1.1. Расширение файла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Расширение — это подсказка компьютеру: чем открыть файл.</a:t>
            </a:r>
            <a:endParaRPr lang="en-US" sz="1500" dirty="0"/>
          </a:p>
        </p:txBody>
      </p:sp>
      <p:pic>
        <p:nvPicPr>
          <p:cNvPr id="5" name="Image 0" descr="/mnt/data/a_bright_friendly_flat_cute_cartoon_illustratio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027821"/>
            <a:ext cx="4800600" cy="27017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874520"/>
            <a:ext cx="2286000" cy="685800"/>
          </a:xfrm>
          <a:prstGeom prst="roundRect">
            <a:avLst>
              <a:gd name="adj" fmla="val 12000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7B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my-cat.png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383280" y="1874520"/>
            <a:ext cx="2011680" cy="685800"/>
          </a:xfrm>
          <a:prstGeom prst="roundRect">
            <a:avLst>
              <a:gd name="adj" fmla="val 12000"/>
            </a:avLst>
          </a:prstGeom>
          <a:solidFill>
            <a:srgbClr val="EEE9FF"/>
          </a:solidFill>
          <a:ln>
            <a:solidFill>
              <a:srgbClr val="EEE9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B61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logo.svg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325880" y="2926080"/>
            <a:ext cx="2331720" cy="685800"/>
          </a:xfrm>
          <a:prstGeom prst="roundRect">
            <a:avLst>
              <a:gd name="adj" fmla="val 12000"/>
            </a:avLst>
          </a:prstGeom>
          <a:solidFill>
            <a:srgbClr val="E8FFF6"/>
          </a:solidFill>
          <a:ln>
            <a:solidFill>
              <a:srgbClr val="E8FFF6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FB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photo.webp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22960" y="4160520"/>
            <a:ext cx="4892040" cy="868680"/>
          </a:xfrm>
          <a:prstGeom prst="roundRect">
            <a:avLst>
              <a:gd name="adj" fmla="val 9474"/>
            </a:avLst>
          </a:prstGeom>
          <a:solidFill>
            <a:srgbClr val="FFF0F0"/>
          </a:solidFill>
          <a:ln>
            <a:solidFill>
              <a:srgbClr val="FFF0F0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.img обычно не картинка для сайта, а образ диска. Для web его не используют.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5532120"/>
            <a:ext cx="1056132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найдите расширение у 3 файлов на своём компьютере.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Растр и вектор: два типа графики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Главное различие — из чего «собрана» картинка.</a:t>
            </a:r>
            <a:endParaRPr lang="en-US" sz="1500" dirty="0"/>
          </a:p>
        </p:txBody>
      </p:sp>
      <p:pic>
        <p:nvPicPr>
          <p:cNvPr id="5" name="Image 0" descr="/mnt/data/a_bright_flat_colorful_educational_illustration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646535"/>
            <a:ext cx="5440680" cy="3062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74520"/>
            <a:ext cx="4663440" cy="1188720"/>
          </a:xfrm>
          <a:prstGeom prst="roundRect">
            <a:avLst>
              <a:gd name="adj" fmla="val 6923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Растр = пиксели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JPG, PNG, WebP, GIF. Хорошо для фото и сложных изображений.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3401568"/>
            <a:ext cx="4663440" cy="1188720"/>
          </a:xfrm>
          <a:prstGeom prst="roundRect">
            <a:avLst>
              <a:gd name="adj" fmla="val 6923"/>
            </a:avLst>
          </a:prstGeom>
          <a:solidFill>
            <a:srgbClr val="FFF4DF"/>
          </a:solidFill>
          <a:ln>
            <a:solidFill>
              <a:srgbClr val="FFF4D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Вектор = линии и фигуры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SVG. Отлично для логотипов, иконок и простых рисунков.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Форматы: что выбрать?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 каждого формата есть своя «суперсила».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508760" cy="530352"/>
          </a:xfrm>
          <a:prstGeom prst="roundRect">
            <a:avLst>
              <a:gd name="adj" fmla="val 15517"/>
            </a:avLst>
          </a:prstGeom>
          <a:solidFill>
            <a:srgbClr val="FFC857"/>
          </a:solidFill>
          <a:ln>
            <a:solidFill>
              <a:srgbClr val="FFC857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JPG/JPEG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31720" y="1600200"/>
            <a:ext cx="90525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фотографии — маленький размер, нет прозрачности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508760" cy="530352"/>
          </a:xfrm>
          <a:prstGeom prst="roundRect">
            <a:avLst>
              <a:gd name="adj" fmla="val 15517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31720" y="2286000"/>
            <a:ext cx="90525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иконки, скриншоты — есть прозрачность, может быть тяжелее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971800"/>
            <a:ext cx="1508760" cy="530352"/>
          </a:xfrm>
          <a:prstGeom prst="roundRect">
            <a:avLst>
              <a:gd name="adj" fmla="val 15517"/>
            </a:avLst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31720" y="2971800"/>
            <a:ext cx="90525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логотипы, схемы — чёткий при любом размере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3657600"/>
            <a:ext cx="1508760" cy="530352"/>
          </a:xfrm>
          <a:prstGeom prst="roundRect">
            <a:avLst>
              <a:gd name="adj" fmla="val 15517"/>
            </a:avLst>
          </a:prstGeom>
          <a:solidFill>
            <a:srgbClr val="2FBF71"/>
          </a:solidFill>
          <a:ln>
            <a:solidFill>
              <a:srgbClr val="2FBF71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331720" y="3657600"/>
            <a:ext cx="90525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фото для сайта — часто легче JPG/PNG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343400"/>
            <a:ext cx="1508760" cy="530352"/>
          </a:xfrm>
          <a:prstGeom prst="roundRect">
            <a:avLst>
              <a:gd name="adj" fmla="val 15517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31720" y="4343400"/>
            <a:ext cx="90525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простая анимация — много кадров, но мало цветов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562356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выберите формат для: фото кота, логотипа школы, прозрачной кнопки.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Мини-алгоритм выбора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Думай как дизайнер: сначала задача, потом формат.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46177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фото?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715000" y="1600200"/>
            <a:ext cx="4663440" cy="530352"/>
          </a:xfrm>
          <a:prstGeom prst="roundRect">
            <a:avLst>
              <a:gd name="adj" fmla="val 15517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JPG или WebP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350008"/>
            <a:ext cx="46177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Нужна прозрачность?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15000" y="2350008"/>
            <a:ext cx="4663440" cy="530352"/>
          </a:xfrm>
          <a:prstGeom prst="roundRect">
            <a:avLst>
              <a:gd name="adj" fmla="val 15517"/>
            </a:avLst>
          </a:prstGeom>
          <a:solidFill>
            <a:srgbClr val="E8FFF6"/>
          </a:solidFill>
          <a:ln>
            <a:solidFill>
              <a:srgbClr val="E8FFF6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PNG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99816"/>
            <a:ext cx="46177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Это логотип/иконка?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0" y="3099816"/>
            <a:ext cx="4663440" cy="530352"/>
          </a:xfrm>
          <a:prstGeom prst="roundRect">
            <a:avLst>
              <a:gd name="adj" fmla="val 15517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SVG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849624"/>
            <a:ext cx="46177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Нужна анимация?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15000" y="3849624"/>
            <a:ext cx="4663440" cy="530352"/>
          </a:xfrm>
          <a:prstGeom prst="roundRect">
            <a:avLst>
              <a:gd name="adj" fmla="val 15517"/>
            </a:avLst>
          </a:prstGeom>
          <a:solidFill>
            <a:srgbClr val="E8FFF6"/>
          </a:solidFill>
          <a:ln>
            <a:solidFill>
              <a:srgbClr val="E8FFF6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GIF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599432"/>
            <a:ext cx="461772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Нужна максимальная скорость?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715000" y="4599432"/>
            <a:ext cx="4663440" cy="530352"/>
          </a:xfrm>
          <a:prstGeom prst="roundRect">
            <a:avLst>
              <a:gd name="adj" fmla="val 15517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WebP + сжатие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789920" y="109728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dirty="0">
                <a:solidFill>
                  <a:srgbClr val="1F2A44"/>
                </a:solidFill>
              </a:rPr>
              <a:t>🧠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10881360" y="416052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dirty="0">
                <a:solidFill>
                  <a:srgbClr val="1F2A44"/>
                </a:solidFill>
              </a:rPr>
              <a:t>✅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Тема 1.2. Что такое Photopea?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Онлайн-редактор: работает в браузере и похож на Photoshop.</a:t>
            </a:r>
            <a:endParaRPr lang="en-US" sz="1500" dirty="0"/>
          </a:p>
        </p:txBody>
      </p:sp>
      <p:pic>
        <p:nvPicPr>
          <p:cNvPr id="5" name="Image 0" descr="/mnt/data/a_wide_colorful_flat_illustrated_screenshot_like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21124"/>
            <a:ext cx="5303520" cy="2984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45720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нужно устанавливать программу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743200"/>
            <a:ext cx="45720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рисовать, вырезать, исправлять фото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657600"/>
            <a:ext cx="457200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Подходит для подготовки изображений к сайту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53212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откройте photopea.com и найдите кнопку создания нового файла.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Интерфейс Photopea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Запомните 4 зоны — и редактор станет понятнее.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2194560" cy="1261872"/>
          </a:xfrm>
          <a:prstGeom prst="roundRect">
            <a:avLst>
              <a:gd name="adj" fmla="val 6522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Левая панель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инструменты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154680" y="1828800"/>
            <a:ext cx="2194560" cy="1261872"/>
          </a:xfrm>
          <a:prstGeom prst="roundRect">
            <a:avLst>
              <a:gd name="adj" fmla="val 6522"/>
            </a:avLst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Верхняя панель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настройки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23560" y="1828800"/>
            <a:ext cx="2194560" cy="1261872"/>
          </a:xfrm>
          <a:prstGeom prst="roundRect">
            <a:avLst>
              <a:gd name="adj" fmla="val 6522"/>
            </a:avLst>
          </a:prstGeom>
          <a:solidFill>
            <a:srgbClr val="2FBF71"/>
          </a:solidFill>
          <a:ln>
            <a:solidFill>
              <a:srgbClr val="2FBF71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Холст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ваша картинка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092440" y="1828800"/>
            <a:ext cx="2194560" cy="1261872"/>
          </a:xfrm>
          <a:prstGeom prst="roundRect">
            <a:avLst>
              <a:gd name="adj" fmla="val 6522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Слои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детали работы</a:t>
            </a:r>
            <a:endParaRPr lang="en-US" sz="1700" dirty="0"/>
          </a:p>
        </p:txBody>
      </p:sp>
      <p:pic>
        <p:nvPicPr>
          <p:cNvPr id="9" name="Image 0" descr="/mnt/data/a_wide_colorful_flat_illustrated_screenshot_like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787" y="3474720"/>
            <a:ext cx="3411946" cy="19202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Простейшее изображение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Рисунок можно собрать из простых фигур.</a:t>
            </a:r>
            <a:endParaRPr lang="en-US" sz="1500" dirty="0"/>
          </a:p>
        </p:txBody>
      </p:sp>
      <p:pic>
        <p:nvPicPr>
          <p:cNvPr id="5" name="Image 0" descr="/mnt/data/a_bright_colorful_cartoon_style_vector_illustrat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646535"/>
            <a:ext cx="5440680" cy="3062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43891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Дом = квадрат + треугольник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670048"/>
            <a:ext cx="43891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Солнце = круг + лучи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3511296"/>
            <a:ext cx="438912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Дерево = прямоугольник + круги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" y="562356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нарисуйте «домик у дерева» только из фигур.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Практика: создаём картинку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Мини-проект на 10 минут.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700784"/>
            <a:ext cx="9966960" cy="530352"/>
          </a:xfrm>
          <a:prstGeom prst="roundRect">
            <a:avLst>
              <a:gd name="adj" fmla="val 15517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Файл → Новый: 1200 × 700 px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2404872"/>
            <a:ext cx="99669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Фон: небо или однотонный цвет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9966960" cy="530352"/>
          </a:xfrm>
          <a:prstGeom prst="roundRect">
            <a:avLst>
              <a:gd name="adj" fmla="val 15517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Фигуры: дом, крыша, солнце, облака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813048"/>
            <a:ext cx="9966960" cy="530352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Кисть: трава, дорожка, детали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4517136"/>
            <a:ext cx="9966960" cy="530352"/>
          </a:xfrm>
          <a:prstGeom prst="roundRect">
            <a:avLst>
              <a:gd name="adj" fmla="val 15517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Сохранить PSD, затем экспорт PNG/WebP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0" y="157276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2A44"/>
                </a:solidFill>
              </a:rPr>
              <a:t>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972800" y="30358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2A44"/>
                </a:solidFill>
              </a:rPr>
              <a:t>🌳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972800" y="449884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2A44"/>
                </a:solidFill>
              </a:rPr>
              <a:t>☀️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Сохранить ≠ экспортировать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PSD хранит проект, а PNG/WebP/JPG — готовую картинку.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EEE9FF"/>
          </a:solidFill>
          <a:ln>
            <a:solidFill>
              <a:srgbClr val="EEE9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PSD / рабочий файл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вернуться и изменить слои.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480560" y="1828800"/>
            <a:ext cx="3246120" cy="1325880"/>
          </a:xfrm>
          <a:prstGeom prst="roundRect">
            <a:avLst>
              <a:gd name="adj" fmla="val 6207"/>
            </a:avLst>
          </a:prstGeom>
          <a:solidFill>
            <a:srgbClr val="E8FFF6"/>
          </a:solidFill>
          <a:ln>
            <a:solidFill>
              <a:srgbClr val="E8FFF6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As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PNG, JPG, SVG, WebP, GIF — для сайта.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183880" y="1828800"/>
            <a:ext cx="3017520" cy="1325880"/>
          </a:xfrm>
          <a:prstGeom prst="roundRect">
            <a:avLst>
              <a:gd name="adj" fmla="val 6207"/>
            </a:avLst>
          </a:prstGeom>
          <a:solidFill>
            <a:srgbClr val="FFF3CC"/>
          </a:solidFill>
          <a:ln>
            <a:solidFill>
              <a:srgbClr val="FFF3CC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Правило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Исходник сохраняем, сайт получает экспорт.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057400" y="4023360"/>
            <a:ext cx="7955280" cy="841248"/>
          </a:xfrm>
          <a:prstGeom prst="roundRect">
            <a:avLst>
              <a:gd name="adj" fmla="val 6522"/>
            </a:avLst>
          </a:prstGeom>
          <a:solidFill>
            <a:srgbClr val="182235"/>
          </a:solidFill>
          <a:ln>
            <a:solidFill>
              <a:srgbClr val="18223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src="hero.webp" alt="Пейзаж"&gt;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src="logo.svg" alt="Логотип"&gt;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5623560"/>
            <a:ext cx="1037844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экспортируйте один рисунок в PNG и WebP, сравните размер файла.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Тема 1.3. Слои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Слой — как прозрачная плёнка с отдельной частью рисунка.</a:t>
            </a:r>
            <a:endParaRPr lang="en-US" sz="1500" dirty="0"/>
          </a:p>
        </p:txBody>
      </p:sp>
      <p:pic>
        <p:nvPicPr>
          <p:cNvPr id="5" name="Image 0" descr="/mnt/data/a_clean_colorful_3d_cgi_illustration_on_a_solid_batch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707992"/>
            <a:ext cx="5303520" cy="2984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Фон отдельно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85800" y="2633472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Персонаж отдельно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438144"/>
            <a:ext cx="420624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 отдельно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4434840"/>
            <a:ext cx="4206240" cy="868680"/>
          </a:xfrm>
          <a:prstGeom prst="roundRect">
            <a:avLst>
              <a:gd name="adj" fmla="val 9474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Так легче двигать, прятать и исправлять детали.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Порядок слоёв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То, что выше в списке, видно поверх остальных.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3840480" cy="594360"/>
          </a:xfrm>
          <a:prstGeom prst="roundRect">
            <a:avLst>
              <a:gd name="adj" fmla="val 13846"/>
            </a:avLst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Текст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2395728"/>
            <a:ext cx="3840480" cy="594360"/>
          </a:xfrm>
          <a:prstGeom prst="roundRect">
            <a:avLst>
              <a:gd name="adj" fmla="val 13846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Персонаж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3054096"/>
            <a:ext cx="3840480" cy="594360"/>
          </a:xfrm>
          <a:prstGeom prst="roundRect">
            <a:avLst>
              <a:gd name="adj" fmla="val 13846"/>
            </a:avLst>
          </a:prstGeom>
          <a:solidFill>
            <a:srgbClr val="8994AA"/>
          </a:solidFill>
          <a:ln>
            <a:solidFill>
              <a:srgbClr val="8994AA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Тень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3712464"/>
            <a:ext cx="3840480" cy="594360"/>
          </a:xfrm>
          <a:prstGeom prst="roundRect">
            <a:avLst>
              <a:gd name="adj" fmla="val 13846"/>
            </a:avLst>
          </a:prstGeom>
          <a:solidFill>
            <a:srgbClr val="2FBF71"/>
          </a:solidFill>
          <a:ln>
            <a:solidFill>
              <a:srgbClr val="2FBF71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Фон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0" y="1920240"/>
            <a:ext cx="4343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Попробуйте выключить глазик 👁 у слоя — он исчезнет, но не удалится.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3429000"/>
            <a:ext cx="434340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Перетащите слой вверх — объект окажется на переднем плане.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553212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создайте 3 слоя: фон, фигура, подпись. Поменяйте их местами.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Папки и названия слоёв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Хороший дизайнер держит проект в порядке.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FFF0F0"/>
          </a:solidFill>
          <a:ln>
            <a:solidFill>
              <a:srgbClr val="FFF0F0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❌ Layer 1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2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 3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663440" y="1828800"/>
            <a:ext cx="3383280" cy="1508760"/>
          </a:xfrm>
          <a:prstGeom prst="roundRect">
            <a:avLst>
              <a:gd name="adj" fmla="val 5455"/>
            </a:avLst>
          </a:prstGeom>
          <a:solidFill>
            <a:srgbClr val="E8FFF6"/>
          </a:solidFill>
          <a:ln>
            <a:solidFill>
              <a:srgbClr val="E8FFF6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Фон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Дом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Дерево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Текст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0" y="1828800"/>
            <a:ext cx="2743200" cy="1508760"/>
          </a:xfrm>
          <a:prstGeom prst="roundRect">
            <a:avLst>
              <a:gd name="adj" fmla="val 5455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📁 Папка «Иконки»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📁 Папка «Текст»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📁 Папка «Фон»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переименуйте все слои в своём </a:t>
            </a:r>
            <a:r>
              <a:rPr lang="en-US" sz="1600" b="1" dirty="0" err="1">
                <a:solidFill>
                  <a:srgbClr val="1F2A44"/>
                </a:solidFill>
              </a:rPr>
              <a:t>проекте</a:t>
            </a:r>
            <a:r>
              <a:rPr lang="en-US" sz="1600" b="1" dirty="0">
                <a:solidFill>
                  <a:srgbClr val="1F2A44"/>
                </a:solidFill>
              </a:rPr>
              <a:t> </a:t>
            </a:r>
            <a:r>
              <a:rPr lang="en-US" sz="1600" b="1" dirty="0" err="1">
                <a:solidFill>
                  <a:srgbClr val="1F2A44"/>
                </a:solidFill>
              </a:rPr>
              <a:t>так</a:t>
            </a:r>
            <a:r>
              <a:rPr lang="ru-RU" sz="1600" b="1" dirty="0">
                <a:solidFill>
                  <a:srgbClr val="1F2A44"/>
                </a:solidFill>
              </a:rPr>
              <a:t>, </a:t>
            </a:r>
            <a:r>
              <a:rPr lang="en-US" sz="1600" b="1" dirty="0" err="1">
                <a:solidFill>
                  <a:srgbClr val="1F2A44"/>
                </a:solidFill>
              </a:rPr>
              <a:t>чтобы</a:t>
            </a:r>
            <a:r>
              <a:rPr lang="en-US" sz="1600" b="1" dirty="0">
                <a:solidFill>
                  <a:srgbClr val="1F2A44"/>
                </a:solidFill>
              </a:rPr>
              <a:t> </a:t>
            </a:r>
            <a:r>
              <a:rPr lang="en-US" sz="1600" b="1" dirty="0" err="1">
                <a:solidFill>
                  <a:srgbClr val="1F2A44"/>
                </a:solidFill>
              </a:rPr>
              <a:t>друг</a:t>
            </a:r>
            <a:r>
              <a:rPr lang="ru-RU" sz="1600" b="1" dirty="0">
                <a:solidFill>
                  <a:srgbClr val="1F2A44"/>
                </a:solidFill>
              </a:rPr>
              <a:t>ой</a:t>
            </a:r>
            <a:r>
              <a:rPr lang="en-US" sz="1600" b="1" dirty="0">
                <a:solidFill>
                  <a:srgbClr val="1F2A44"/>
                </a:solidFill>
              </a:rPr>
              <a:t> понял их смысл.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Коррекция изображения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Коррекция помогает сделать фото ярче, чище и понятнее.</a:t>
            </a:r>
            <a:endParaRPr lang="en-US" sz="1500" dirty="0"/>
          </a:p>
        </p:txBody>
      </p:sp>
      <p:pic>
        <p:nvPicPr>
          <p:cNvPr id="5" name="Image 0" descr="/mnt/data/wide_colorful_cartoon_3d_ish_illustration_of_a_p_batch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97998"/>
            <a:ext cx="5257800" cy="29590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783080"/>
            <a:ext cx="44805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Яркость: светлее / темнее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85800" y="2606040"/>
            <a:ext cx="44805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Контраст: сильнее разница между светом и тенью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611880"/>
            <a:ext cx="44805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Насыщенность: цветнее / спокойнее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4434840"/>
            <a:ext cx="448056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Резкость: детали заметнее, но не переборщить!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5623560"/>
            <a:ext cx="1065276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сделайте фото «до/после», но без слишком кислотных цветов.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Безопасное редактирование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Лучше исправлять так, чтобы можно было вернуться назад.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Дублируй слой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+ J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0" y="1828800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EEE9FF"/>
          </a:solidFill>
          <a:ln>
            <a:solidFill>
              <a:srgbClr val="EEE9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Используй маску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стирай навсегда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92240" y="1828800"/>
            <a:ext cx="2560320" cy="1005840"/>
          </a:xfrm>
          <a:prstGeom prst="roundRect">
            <a:avLst>
              <a:gd name="adj" fmla="val 8182"/>
            </a:avLst>
          </a:prstGeom>
          <a:solidFill>
            <a:srgbClr val="FFF3CC"/>
          </a:solidFill>
          <a:ln>
            <a:solidFill>
              <a:srgbClr val="FFF3CC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Сохраняй PSD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потом экспорт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0" y="1828800"/>
            <a:ext cx="2103120" cy="1005840"/>
          </a:xfrm>
          <a:prstGeom prst="roundRect">
            <a:avLst>
              <a:gd name="adj" fmla="val 8182"/>
            </a:avLst>
          </a:prstGeom>
          <a:solidFill>
            <a:srgbClr val="E8FFF6"/>
          </a:solidFill>
          <a:ln>
            <a:solidFill>
              <a:srgbClr val="E8FFF6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Сравнивай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 / после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9966960" cy="1143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7364E"/>
                </a:solidFill>
              </a:rPr>
              <a:t>Не удаляй оригинальное фото.</a:t>
            </a:r>
            <a:endParaRPr lang="en-US" sz="1700" dirty="0"/>
          </a:p>
          <a:p>
            <a:r>
              <a:rPr lang="en-US" sz="1700" dirty="0">
                <a:solidFill>
                  <a:srgbClr val="27364E"/>
                </a:solidFill>
              </a:rPr>
              <a:t>Проверяй, не испортился ли цвет кожи/неба/текста.</a:t>
            </a:r>
            <a:endParaRPr lang="en-US" sz="1700" dirty="0"/>
          </a:p>
          <a:p>
            <a:r>
              <a:rPr lang="en-US" sz="1700" dirty="0">
                <a:solidFill>
                  <a:srgbClr val="27364E"/>
                </a:solidFill>
              </a:rPr>
              <a:t>Для сайта важны качество и размер файла.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Мини-проект: карточка товара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Собираем изображение из слоёв.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1828800" cy="640080"/>
          </a:xfrm>
          <a:prstGeom prst="roundRect">
            <a:avLst>
              <a:gd name="adj" fmla="val 12857"/>
            </a:avLst>
          </a:prstGeom>
          <a:solidFill>
            <a:srgbClr val="2FBF71"/>
          </a:solidFill>
          <a:ln>
            <a:solidFill>
              <a:srgbClr val="2FBF71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108960" y="1920240"/>
            <a:ext cx="2286000" cy="640080"/>
          </a:xfrm>
          <a:prstGeom prst="roundRect">
            <a:avLst>
              <a:gd name="adj" fmla="val 12857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Фото товара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760720" y="1920240"/>
            <a:ext cx="2468880" cy="640080"/>
          </a:xfrm>
          <a:prstGeom prst="roundRect">
            <a:avLst>
              <a:gd name="adj" fmla="val 12857"/>
            </a:avLst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Цена / название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0" y="1920240"/>
            <a:ext cx="1828800" cy="640080"/>
          </a:xfrm>
          <a:prstGeom prst="roundRect">
            <a:avLst>
              <a:gd name="adj" fmla="val 12857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Кнопка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3429000"/>
            <a:ext cx="9326880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Пример: карточка мороженого, игры, книги или кружки. </a:t>
            </a:r>
            <a:endParaRPr lang="ru-RU" sz="1900" b="1" dirty="0">
              <a:solidFill>
                <a:srgbClr val="1F2A44"/>
              </a:solidFill>
              <a:latin typeface="Aptos" pitchFamily="34" charset="0"/>
              <a:ea typeface="Aptos" pitchFamily="34" charset="-122"/>
              <a:cs typeface="Aptos" pitchFamily="34" charset="-120"/>
            </a:endParaRPr>
          </a:p>
          <a:p>
            <a:pPr marL="0" indent="0" algn="ctr">
              <a:buNone/>
            </a:pPr>
            <a:r>
              <a:rPr lang="en-US" sz="1900" b="1" dirty="0" err="1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Главное</a:t>
            </a:r>
            <a:r>
              <a:rPr lang="en-US" sz="19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слои должны быть названы понятно.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5486400"/>
            <a:ext cx="102412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создайте карточку 900 × 600 px: фон, объект, заголовок, кнопка.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Тема 1.4. Изображения для web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сайте картинка должна быть красивой и быстрой.</a:t>
            </a:r>
            <a:endParaRPr lang="en-US" sz="1500" dirty="0"/>
          </a:p>
        </p:txBody>
      </p:sp>
      <p:pic>
        <p:nvPicPr>
          <p:cNvPr id="5" name="Image 0" descr="/mnt/data/wide_bright_cheerful_3d_flat_3d_vector_illustrat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9429"/>
            <a:ext cx="5166360" cy="29076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783080"/>
            <a:ext cx="4572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Размер в пикселях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больше, чем нужно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31520" y="2761488"/>
            <a:ext cx="4572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Вес файла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чем меньше, тем быстрее сайт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739896"/>
            <a:ext cx="457200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подбираем под задачу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19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WebP: формат для быстрых сайтов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Часто подходит для фото и баннеров.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2926080" cy="566928"/>
          </a:xfrm>
          <a:prstGeom prst="roundRect">
            <a:avLst>
              <a:gd name="adj" fmla="val 14516"/>
            </a:avLst>
          </a:prstGeom>
          <a:solidFill>
            <a:srgbClr val="2FBF71"/>
          </a:solidFill>
          <a:ln>
            <a:solidFill>
              <a:srgbClr val="2FBF71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Когда использовать?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438912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00" dirty="0">
                <a:solidFill>
                  <a:srgbClr val="27364E"/>
                </a:solidFill>
              </a:rPr>
              <a:t>большие фото на сайте</a:t>
            </a:r>
            <a:endParaRPr lang="en-US" sz="1700" dirty="0"/>
          </a:p>
          <a:p>
            <a:r>
              <a:rPr lang="en-US" sz="1700" dirty="0">
                <a:solidFill>
                  <a:srgbClr val="27364E"/>
                </a:solidFill>
              </a:rPr>
              <a:t>баннеры и карточки</a:t>
            </a:r>
            <a:endParaRPr lang="en-US" sz="1700" dirty="0"/>
          </a:p>
          <a:p>
            <a:r>
              <a:rPr lang="en-US" sz="1700" dirty="0">
                <a:solidFill>
                  <a:srgbClr val="27364E"/>
                </a:solidFill>
              </a:rPr>
              <a:t>когда нужно уменьшить вес файла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760720" y="1645920"/>
            <a:ext cx="5120640" cy="566928"/>
          </a:xfrm>
          <a:prstGeom prst="roundRect">
            <a:avLst>
              <a:gd name="adj" fmla="val 14516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перед загрузкой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760720" y="2468880"/>
            <a:ext cx="51206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1) Открывается ли в браузере?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2) Не потерялось ли качество?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3) Есть ли запасной вариант, если нужен?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343400"/>
            <a:ext cx="8138160" cy="758952"/>
          </a:xfrm>
          <a:prstGeom prst="roundRect">
            <a:avLst>
              <a:gd name="adj" fmla="val 7229"/>
            </a:avLst>
          </a:prstGeom>
          <a:solidFill>
            <a:srgbClr val="182235"/>
          </a:solidFill>
          <a:ln>
            <a:solidFill>
              <a:srgbClr val="18223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picture &gt; source srcset="hero.webp"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img src="hero.jpg" alt="..."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20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SVG: чёткие иконки и логотипы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не состоит из пикселей — он описывает фигуры.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3017520" cy="548640"/>
          </a:xfrm>
          <a:prstGeom prst="roundRect">
            <a:avLst>
              <a:gd name="adj" fmla="val 15000"/>
            </a:avLst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Подходит для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3891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7364E"/>
                </a:solidFill>
              </a:rPr>
              <a:t>логотипов</a:t>
            </a:r>
            <a:endParaRPr lang="en-US" sz="1800" dirty="0"/>
          </a:p>
          <a:p>
            <a:r>
              <a:rPr lang="en-US" sz="1800" dirty="0">
                <a:solidFill>
                  <a:srgbClr val="27364E"/>
                </a:solidFill>
              </a:rPr>
              <a:t>иконок меню</a:t>
            </a:r>
            <a:endParaRPr lang="en-US" sz="1800" dirty="0"/>
          </a:p>
          <a:p>
            <a:r>
              <a:rPr lang="en-US" sz="1800" dirty="0">
                <a:solidFill>
                  <a:srgbClr val="27364E"/>
                </a:solidFill>
              </a:rPr>
              <a:t>простых иллюстраций</a:t>
            </a:r>
            <a:endParaRPr lang="en-US" sz="1800" dirty="0"/>
          </a:p>
          <a:p>
            <a:r>
              <a:rPr lang="en-US" sz="1800" dirty="0">
                <a:solidFill>
                  <a:srgbClr val="27364E"/>
                </a:solidFill>
              </a:rPr>
              <a:t>схем и стрелок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0" y="1737360"/>
            <a:ext cx="3200400" cy="548640"/>
          </a:xfrm>
          <a:prstGeom prst="roundRect">
            <a:avLst>
              <a:gd name="adj" fmla="val 15000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лучший выбор для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0" y="2423160"/>
            <a:ext cx="43891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27364E"/>
                </a:solidFill>
              </a:rPr>
              <a:t>фотографий</a:t>
            </a:r>
            <a:endParaRPr lang="en-US" sz="1800" dirty="0"/>
          </a:p>
          <a:p>
            <a:r>
              <a:rPr lang="en-US" sz="1800" dirty="0">
                <a:solidFill>
                  <a:srgbClr val="27364E"/>
                </a:solidFill>
              </a:rPr>
              <a:t>очень сложных картинок</a:t>
            </a:r>
            <a:endParaRPr lang="en-US" sz="1800" dirty="0"/>
          </a:p>
          <a:p>
            <a:r>
              <a:rPr lang="en-US" sz="1800" dirty="0">
                <a:solidFill>
                  <a:srgbClr val="27364E"/>
                </a:solidFill>
              </a:rPr>
              <a:t>рисунков с тысячами деталей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4389120"/>
            <a:ext cx="7498080" cy="658368"/>
          </a:xfrm>
          <a:prstGeom prst="roundRect">
            <a:avLst>
              <a:gd name="adj" fmla="val 8333"/>
            </a:avLst>
          </a:prstGeom>
          <a:solidFill>
            <a:srgbClr val="182235"/>
          </a:solidFill>
          <a:ln>
            <a:solidFill>
              <a:srgbClr val="18223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&lt;img src="logo.svg" alt="Логотип"&gt;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PNG: прозрачность и чёткие края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PNG нужен, когда фон должен просвечивать.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3017520" cy="685800"/>
          </a:xfrm>
          <a:prstGeom prst="roundRect">
            <a:avLst>
              <a:gd name="adj" fmla="val 12000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Прозрачный фон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26280" y="1828800"/>
            <a:ext cx="3017520" cy="685800"/>
          </a:xfrm>
          <a:prstGeom prst="roundRect">
            <a:avLst>
              <a:gd name="adj" fmla="val 12000"/>
            </a:avLst>
          </a:prstGeom>
          <a:solidFill>
            <a:srgbClr val="E8FFF6"/>
          </a:solidFill>
          <a:ln>
            <a:solidFill>
              <a:srgbClr val="E8FFF6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Скриншоты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83880" y="1828800"/>
            <a:ext cx="3017520" cy="685800"/>
          </a:xfrm>
          <a:prstGeom prst="roundRect">
            <a:avLst>
              <a:gd name="adj" fmla="val 12000"/>
            </a:avLst>
          </a:prstGeom>
          <a:solidFill>
            <a:srgbClr val="FFF3CC"/>
          </a:solidFill>
          <a:ln>
            <a:solidFill>
              <a:srgbClr val="FFF3CC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⚠️ Может быть тяжёлым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337560"/>
            <a:ext cx="987552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Пример: иконка кнопки с прозрачным фоном поверх любого цвета сайта.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22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GIF-анимация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GIF — это набор кадров, которые быстро сменяют друг друга.</a:t>
            </a:r>
            <a:endParaRPr lang="en-US" sz="1500" dirty="0"/>
          </a:p>
        </p:txBody>
      </p:sp>
      <p:pic>
        <p:nvPicPr>
          <p:cNvPr id="5" name="Image 0" descr="/mnt/data/a_bright_colorful_cartoon_style_vector_3d_ish_il_batch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870563"/>
            <a:ext cx="5440680" cy="3062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828800"/>
            <a:ext cx="475488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Кадр 1 → Кадр 2 → Кадр 3 → ...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2926080"/>
            <a:ext cx="4754880" cy="960120"/>
          </a:xfrm>
          <a:prstGeom prst="roundRect">
            <a:avLst>
              <a:gd name="adj" fmla="val 8571"/>
            </a:avLst>
          </a:prstGeom>
          <a:solidFill>
            <a:srgbClr val="E7F0FF"/>
          </a:solidFill>
          <a:ln>
            <a:solidFill>
              <a:srgbClr val="E7F0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Лучше для маленьких простых анимаций: стрелка, смайлик, маленький баннер.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4224528"/>
            <a:ext cx="4754880" cy="777240"/>
          </a:xfrm>
          <a:prstGeom prst="roundRect">
            <a:avLst>
              <a:gd name="adj" fmla="val 10588"/>
            </a:avLst>
          </a:prstGeom>
          <a:solidFill>
            <a:srgbClr val="FFF0F0"/>
          </a:solidFill>
          <a:ln>
            <a:solidFill>
              <a:srgbClr val="FFF0F0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Для больших видео GIF обычно тяжёлый — лучше видеоформат.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5623560"/>
            <a:ext cx="10698480" cy="658368"/>
          </a:xfrm>
          <a:prstGeom prst="roundRect">
            <a:avLst>
              <a:gd name="adj" fmla="val 11111"/>
            </a:avLst>
          </a:prstGeom>
          <a:solidFill>
            <a:srgbClr val="FFF3CC"/>
          </a:solidFill>
          <a:ln>
            <a:solidFill>
              <a:srgbClr val="FFD56A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</a:rPr>
              <a:t>Практика: придумайте анимацию из 4 кадров: мигающая звезда, бегущий шарик или ракета.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23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2011680" cy="310896"/>
          </a:xfrm>
          <a:prstGeom prst="roundRect">
            <a:avLst>
              <a:gd name="adj" fmla="val 23529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итог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Итоговая практика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30352" y="120700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736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Сделайте мини-набор изображений для сайта.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C7BE5"/>
          </a:solidFill>
          <a:ln>
            <a:solidFill>
              <a:srgbClr val="2C7BE5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2240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Логотип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формат: SVG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11880" y="1828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2FBF71"/>
          </a:solidFill>
          <a:ln>
            <a:solidFill>
              <a:srgbClr val="2FBF71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11880" y="2514600"/>
            <a:ext cx="2240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Главное фото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формат: WebP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828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7B61FF"/>
          </a:solidFill>
          <a:ln>
            <a:solidFill>
              <a:srgbClr val="7B61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0" y="2514600"/>
            <a:ext cx="2240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Иконка с прозрачностью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формат: PNG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89720" y="1828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FF6B6B"/>
          </a:solidFill>
          <a:ln>
            <a:solidFill>
              <a:srgbClr val="FF6B6B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89720" y="2514600"/>
            <a:ext cx="2240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Маленькая анимация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F2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формат: GIF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63240" y="5131836"/>
            <a:ext cx="6126480" cy="894059"/>
          </a:xfrm>
          <a:prstGeom prst="roundRect">
            <a:avLst>
              <a:gd name="adj" fmla="val 7143"/>
            </a:avLst>
          </a:prstGeom>
          <a:solidFill>
            <a:srgbClr val="182235"/>
          </a:solidFill>
          <a:ln>
            <a:solidFill>
              <a:srgbClr val="182235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logo.svg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hero.webp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icon-cart.png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AF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star.gif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0" y="644652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6A3"/>
                </a:solidFill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1304</Words>
  <Application>Microsoft Office PowerPoint</Application>
  <PresentationFormat>Широкоэкранный</PresentationFormat>
  <Paragraphs>305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29" baseType="lpstr">
      <vt:lpstr>Aptos</vt:lpstr>
      <vt:lpstr>Aptos Display</vt:lpstr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Web-дизайн: изображения для сайта и Photopea</dc:title>
  <dc:subject>Web-дизайн: форматы файлов и Photopea</dc:subject>
  <dc:creator>OpenAI</dc:creator>
  <cp:lastModifiedBy>nikintosik.ogorodnik@bk.ru</cp:lastModifiedBy>
  <cp:revision>2</cp:revision>
  <dcterms:created xsi:type="dcterms:W3CDTF">2026-09-25T16:26:14Z</dcterms:created>
  <dcterms:modified xsi:type="dcterms:W3CDTF">2026-09-26T11:07:54Z</dcterms:modified>
</cp:coreProperties>
</file>