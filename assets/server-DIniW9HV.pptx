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66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pic>
        <p:nvPicPr>
          <p:cNvPr id="5" name="Image 0" descr="/mnt/data/crop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38912"/>
            <a:ext cx="5989320" cy="5806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Shape 4"/>
          <p:cNvSpPr/>
          <p:nvPr/>
        </p:nvSpPr>
        <p:spPr>
          <a:xfrm>
            <a:off x="594360" y="475488"/>
            <a:ext cx="132588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669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клиент–сервер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Поймём, как браузер разговаривает с сервером и зачем сервер нужен сайту.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85800" y="4892040"/>
            <a:ext cx="4983480" cy="822960"/>
          </a:xfrm>
          <a:prstGeom prst="roundRect">
            <a:avLst>
              <a:gd name="adj" fmla="val 18889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14400" y="505663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Представь интернет как кафе: клиент делает заказ, сервер готовит ответ.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• идея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клиент–сервер?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6217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модель, где одно устройство просит, а другое отвечает.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3703320"/>
            <a:ext cx="2286000" cy="0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315200" y="4160520"/>
            <a:ext cx="0" cy="0"/>
          </a:xfrm>
          <a:prstGeom prst="line">
            <a:avLst/>
          </a:prstGeom>
          <a:noFill/>
          <a:ln w="38100">
            <a:solidFill>
              <a:srgbClr val="12B7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286000" cy="1280160"/>
          </a:xfrm>
          <a:prstGeom prst="roundRect">
            <a:avLst>
              <a:gd name="adj" fmla="val 12857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61872" y="306324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браузер, телефон, приложение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2651760" cy="1280160"/>
          </a:xfrm>
          <a:prstGeom prst="roundRect">
            <a:avLst>
              <a:gd name="adj" fmla="val 12857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498080" y="2999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28432" y="30632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мощный компьютер с сайтом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89120" y="2724912"/>
            <a:ext cx="1965960" cy="1965960"/>
          </a:xfrm>
          <a:prstGeom prst="ellipse">
            <a:avLst/>
          </a:prstGeom>
          <a:solidFill>
            <a:srgbClr val="FFF8DF"/>
          </a:solidFill>
          <a:ln w="2540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864608" y="30632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72000" y="3794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95097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отправляет запрос.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ищет нужные данные.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показывает красивую страницу.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19088" y="612648"/>
            <a:ext cx="5221224" cy="549554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data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640080"/>
            <a:ext cx="5166360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0292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• сервер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96926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— это не «магия»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1719072"/>
            <a:ext cx="5257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компьютер, который работает почти всегда и обслуживает много пользователей.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13232" y="2788920"/>
            <a:ext cx="566928" cy="5669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13232" y="2898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26464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файлы сайта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52044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13232" y="36301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26464" y="3584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 запросы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13232" y="4251960"/>
            <a:ext cx="566928" cy="566928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713232" y="43616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26464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отправляет ответы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85800" y="5120640"/>
            <a:ext cx="5303520" cy="758952"/>
          </a:xfrm>
          <a:prstGeom prst="roundRect">
            <a:avLst>
              <a:gd name="adj" fmla="val 20482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914400" y="5285232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может быть в дата-центре или у тебя на компьютере как локальный сервер.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30936"/>
            <a:ext cx="5084064" cy="4855464"/>
          </a:xfrm>
          <a:prstGeom prst="roundRect">
            <a:avLst>
              <a:gd name="adj" fmla="val 4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re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5029200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41148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117336" y="50292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• запрос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96012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летит страница?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989320" y="1709928"/>
            <a:ext cx="5120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и сервер общаются короткими сообщениями: запрос → ответ.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89320" y="2724912"/>
            <a:ext cx="566928" cy="56692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989320" y="28346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02552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вводим адрес сайта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989320" y="3364992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5989320" y="3474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02552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просит страницу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89320" y="4005072"/>
            <a:ext cx="566928" cy="56692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989320" y="41148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02552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собирает ответ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989320" y="4645152"/>
            <a:ext cx="566928" cy="566928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5989320" y="47548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02552" y="4709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рисует сайт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989320" y="5486400"/>
            <a:ext cx="5166360" cy="603504"/>
          </a:xfrm>
          <a:prstGeom prst="roundRect">
            <a:avLst>
              <a:gd name="adj" fmla="val 30909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6217920" y="552297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это «язык просьб и ответов» между браузером и сервером.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• виды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бывают серверы?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949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сервера своя работа — как у персонажа в команде.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01968" y="722376"/>
            <a:ext cx="5038344" cy="5358384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0" name="Image 0" descr="/mnt/data/crop_server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749808"/>
            <a:ext cx="4983480" cy="5303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468880"/>
            <a:ext cx="4389120" cy="685800"/>
          </a:xfrm>
          <a:prstGeom prst="roundRect">
            <a:avLst>
              <a:gd name="adj" fmla="val 24000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77240" y="2542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307592" y="260604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Web-сервер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выдаёт страницы сайта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3310128"/>
            <a:ext cx="4389120" cy="685800"/>
          </a:xfrm>
          <a:prstGeom prst="roundRect">
            <a:avLst>
              <a:gd name="adj" fmla="val 24000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77240" y="3383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07592" y="3447288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Файловый сервер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документы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85800" y="4151376"/>
            <a:ext cx="4389120" cy="685800"/>
          </a:xfrm>
          <a:prstGeom prst="roundRect">
            <a:avLst>
              <a:gd name="adj" fmla="val 24000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777240" y="4224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307592" y="4288536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БД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держит таблицы и записи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85800" y="4992624"/>
            <a:ext cx="4389120" cy="685800"/>
          </a:xfrm>
          <a:prstGeom prst="roundRect">
            <a:avLst>
              <a:gd name="adj" fmla="val 24000"/>
            </a:avLst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777240" y="50657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307592" y="5129784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Почтовый сервер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отправляет письма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• локально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сервер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03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учебный сервер прямо на твоём компьютере.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10528" y="630936"/>
            <a:ext cx="4946904" cy="5358384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0" name="Image 0" descr="/mnt/data/crop_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658368"/>
            <a:ext cx="4892040" cy="5303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2423160"/>
            <a:ext cx="5212080" cy="2377440"/>
          </a:xfrm>
          <a:prstGeom prst="roundRect">
            <a:avLst>
              <a:gd name="adj" fmla="val 7692"/>
            </a:avLst>
          </a:prstGeom>
          <a:solidFill>
            <a:srgbClr val="F2F7FF"/>
          </a:solidFill>
          <a:ln w="12700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470916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запускать PHP без реального хостинга.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адрес вроде localhost.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пробовать, ошибаться и исправлять.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85800" y="5166360"/>
            <a:ext cx="5120640" cy="594360"/>
          </a:xfrm>
          <a:prstGeom prst="roundRect">
            <a:avLst>
              <a:gd name="adj" fmla="val 26154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914400" y="5330952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программ: OpenServer, XAMPP, MAMP.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E88E5">
              <a:alpha val="9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• практика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Мини-квест: запусти сервер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6217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увидеть свою страницу через localhost.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3977640"/>
            <a:ext cx="1828800" cy="0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212080" y="397764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458200" y="3977640"/>
            <a:ext cx="1737360" cy="0"/>
          </a:xfrm>
          <a:prstGeom prst="line">
            <a:avLst/>
          </a:prstGeom>
          <a:noFill/>
          <a:ln w="38100">
            <a:solidFill>
              <a:srgbClr val="12B7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835183" y="3200400"/>
            <a:ext cx="2057400" cy="1554480"/>
          </a:xfrm>
          <a:prstGeom prst="roundRect">
            <a:avLst>
              <a:gd name="adj" fmla="val 10588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53312" y="3337560"/>
            <a:ext cx="1344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Установи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сервер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749040" y="3200400"/>
            <a:ext cx="1828800" cy="1554480"/>
          </a:xfrm>
          <a:prstGeom prst="roundRect">
            <a:avLst>
              <a:gd name="adj" fmla="val 10588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840480" y="3273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70832" y="333756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Положи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в папку сайта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995160" y="3200400"/>
            <a:ext cx="1737360" cy="1554480"/>
          </a:xfrm>
          <a:prstGeom prst="roundRect">
            <a:avLst>
              <a:gd name="adj" fmla="val 10588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086600" y="3273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616952" y="3337560"/>
            <a:ext cx="1024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Открой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829800" y="3200400"/>
            <a:ext cx="1737360" cy="1554480"/>
          </a:xfrm>
          <a:prstGeom prst="roundRect">
            <a:avLst>
              <a:gd name="adj" fmla="val 10909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902952" y="3291841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360152" y="3337560"/>
            <a:ext cx="1115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Проверь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77240" y="5074920"/>
            <a:ext cx="5120640" cy="1097280"/>
          </a:xfrm>
          <a:prstGeom prst="roundRect">
            <a:avLst>
              <a:gd name="adj" fmla="val 15000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960120" y="52212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1161288" y="52212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1362456" y="52212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1600200" y="5175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14984" y="5513832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&lt;h1&gt;Мой первый сайт&lt;/h1&gt;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&lt;p&gt;Сервер работает!&lt;/p&gt;</a:t>
            </a:r>
            <a:endParaRPr lang="en-US" sz="1520" dirty="0"/>
          </a:p>
        </p:txBody>
      </p:sp>
      <p:sp>
        <p:nvSpPr>
          <p:cNvPr id="30" name="Shape 28"/>
          <p:cNvSpPr/>
          <p:nvPr/>
        </p:nvSpPr>
        <p:spPr>
          <a:xfrm>
            <a:off x="6400800" y="5166360"/>
            <a:ext cx="4663440" cy="777240"/>
          </a:xfrm>
          <a:prstGeom prst="roundRect">
            <a:avLst>
              <a:gd name="adj" fmla="val 20000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629400" y="5330952"/>
            <a:ext cx="4206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страница открылась — ты уже сделал маленький web-проект.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pic>
        <p:nvPicPr>
          <p:cNvPr id="5" name="Image 0" descr="/mnt/data/crop_eleph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02920"/>
            <a:ext cx="5623560" cy="5577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475488"/>
            <a:ext cx="132588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22376" y="5669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PHP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50292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писать серверные скрипты: переменные, типы данных и первые команды.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85800" y="4892040"/>
            <a:ext cx="5074920" cy="777240"/>
          </a:xfrm>
          <a:prstGeom prst="roundRect">
            <a:avLst>
              <a:gd name="adj" fmla="val 20000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14400" y="5056632"/>
            <a:ext cx="4617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выполняется на сервере, а браузер получает уже готовый HTML.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1208" y="932688"/>
            <a:ext cx="11119104" cy="3529584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11064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"/>
            <a:ext cx="169164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0292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история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477316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Краткая история PHP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5486400"/>
            <a:ext cx="6766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появился в 1995 году как набор инструментов для сайтов, а позже стал полноценным языком.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4709160"/>
            <a:ext cx="3611880" cy="822960"/>
          </a:xfrm>
          <a:prstGeom prst="roundRect">
            <a:avLst>
              <a:gd name="adj" fmla="val 18889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818120" y="487375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 PHP: быстро создавать динамические web-страницы.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64808" y="658368"/>
            <a:ext cx="5312664" cy="5312664"/>
          </a:xfrm>
          <a:prstGeom prst="roundRect">
            <a:avLst>
              <a:gd name="adj" fmla="val 37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php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85800"/>
            <a:ext cx="52578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0292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где работает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941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живёт PHP?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52578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PHP-код работает на сервере, поэтому пользователь не видит его напрямую.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2542032"/>
            <a:ext cx="4983480" cy="2331720"/>
          </a:xfrm>
          <a:prstGeom prst="roundRect">
            <a:avLst>
              <a:gd name="adj" fmla="val 7843"/>
            </a:avLst>
          </a:prstGeom>
          <a:solidFill>
            <a:srgbClr val="F3EEFF"/>
          </a:solidFill>
          <a:ln w="12700">
            <a:solidFill>
              <a:srgbClr val="E2D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14400" y="2761488"/>
            <a:ext cx="443484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HTML на лету;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формы;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с файлами и базой данных;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 делать личные кабинеты.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85800" y="5212080"/>
            <a:ext cx="4983480" cy="658368"/>
          </a:xfrm>
          <a:prstGeom prst="roundRect">
            <a:avLst>
              <a:gd name="adj" fmla="val 23611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914400" y="537667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получает результат, а не весь «секретный» PHP-код.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24028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первый скрипт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PHP-файл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029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обычно сохраняют с расширением .php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4937760" cy="2194560"/>
          </a:xfrm>
          <a:prstGeom prst="roundRect">
            <a:avLst>
              <a:gd name="adj" fmla="val 7500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868680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69848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271016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508760" y="2432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hello.php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3544" y="2770632"/>
            <a:ext cx="44622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"Привет, мир!";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675120" y="2148840"/>
            <a:ext cx="443484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675120" y="2148840"/>
            <a:ext cx="4434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858000" y="231343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086600" y="231343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7315200" y="231343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858000" y="2862072"/>
            <a:ext cx="4069080" cy="1097280"/>
          </a:xfrm>
          <a:prstGeom prst="roundRect">
            <a:avLst>
              <a:gd name="adj" fmla="val 11667"/>
            </a:avLst>
          </a:prstGeom>
          <a:solidFill>
            <a:srgbClr val="E7F4FF"/>
          </a:solidFill>
          <a:ln w="12700">
            <a:solidFill>
              <a:srgbClr val="E7F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912864" y="3035807"/>
            <a:ext cx="3922776" cy="84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Привет, мир!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браузер видит результат работы PHP.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897880" y="3429000"/>
            <a:ext cx="685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777240" y="5074920"/>
            <a:ext cx="10058400" cy="594360"/>
          </a:xfrm>
          <a:prstGeom prst="roundRect">
            <a:avLst>
              <a:gd name="adj" fmla="val 26154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1005840" y="5239512"/>
            <a:ext cx="9601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— команда, которая выводит текст на страницу.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373368" y="630936"/>
            <a:ext cx="5175504" cy="5404104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syntax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58368"/>
            <a:ext cx="5120640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029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синтаксис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9418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Синтаксис: правила записи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5303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любит аккуратность: скобки, кавычки и точку с запятой.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2560320"/>
            <a:ext cx="4846320" cy="731520"/>
          </a:xfrm>
          <a:prstGeom prst="roundRect">
            <a:avLst>
              <a:gd name="adj" fmla="val 22500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307592" y="2697480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&lt;?php ... ?&gt;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 PHP-кода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3502152"/>
            <a:ext cx="4846320" cy="731520"/>
          </a:xfrm>
          <a:prstGeom prst="roundRect">
            <a:avLst>
              <a:gd name="adj" fmla="val 22500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77240" y="3575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⛳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07592" y="3639312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 команды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85800" y="4443984"/>
            <a:ext cx="4846320" cy="731520"/>
          </a:xfrm>
          <a:prstGeom prst="roundRect">
            <a:avLst>
              <a:gd name="adj" fmla="val 22500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777240" y="45171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307592" y="4581144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комментарий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пояснение для человека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85800" y="5486400"/>
            <a:ext cx="5029200" cy="502920"/>
          </a:xfrm>
          <a:prstGeom prst="roundRect">
            <a:avLst>
              <a:gd name="adj" fmla="val 30909"/>
            </a:avLst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914400" y="5650992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в одном символе может остановить скрипт — проверяй внимательно.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переменные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98559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— коробочки с данными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8521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PHP имя переменной начинается со знака $.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2194560" cy="1417320"/>
          </a:xfrm>
          <a:prstGeom prst="roundRect">
            <a:avLst>
              <a:gd name="adj" fmla="val 11613"/>
            </a:avLst>
          </a:prstGeom>
          <a:solidFill>
            <a:srgbClr val="FFF8DF"/>
          </a:solidFill>
          <a:ln w="1905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31821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2423160"/>
            <a:ext cx="2194560" cy="1417320"/>
          </a:xfrm>
          <a:prstGeom prst="roundRect">
            <a:avLst>
              <a:gd name="adj" fmla="val 11613"/>
            </a:avLst>
          </a:prstGeom>
          <a:solidFill>
            <a:srgbClr val="E6F5FF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9776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77640" y="31821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423160"/>
            <a:ext cx="2194560" cy="1417320"/>
          </a:xfrm>
          <a:prstGeom prst="roundRect">
            <a:avLst>
              <a:gd name="adj" fmla="val 11613"/>
            </a:avLst>
          </a:prstGeom>
          <a:solidFill>
            <a:srgbClr val="E9FBF1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784848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$score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84848" y="3182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663440"/>
            <a:ext cx="5669280" cy="1188720"/>
          </a:xfrm>
          <a:prstGeom prst="roundRect">
            <a:avLst>
              <a:gd name="adj" fmla="val 13846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1005840" y="480974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1207008" y="480974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1408176" y="480974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645920" y="47640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variables.php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60704" y="5102352"/>
            <a:ext cx="5193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"Никита";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= 12;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$score = 100;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$name;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7040880" y="4800600"/>
            <a:ext cx="3886200" cy="713232"/>
          </a:xfrm>
          <a:prstGeom prst="roundRect">
            <a:avLst>
              <a:gd name="adj" fmla="val 21795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7269480" y="4809744"/>
            <a:ext cx="3429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понятное имя переменной помогает читать код.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64808" y="685800"/>
            <a:ext cx="5038344" cy="5221224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data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713232"/>
            <a:ext cx="498348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"/>
            <a:ext cx="224028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0292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типы данных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941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данных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5303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помогает понять, что лежит внутри переменной.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2423160"/>
            <a:ext cx="4846320" cy="713232"/>
          </a:xfrm>
          <a:prstGeom prst="roundRect">
            <a:avLst>
              <a:gd name="adj" fmla="val 23077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77240" y="2496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307592" y="2560320"/>
            <a:ext cx="4133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— строка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"Привет"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3291840"/>
            <a:ext cx="4846320" cy="713232"/>
          </a:xfrm>
          <a:prstGeom prst="roundRect">
            <a:avLst>
              <a:gd name="adj" fmla="val 23077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77240" y="3364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07592" y="3429000"/>
            <a:ext cx="4133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/ float — числа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или 3.14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85800" y="4160520"/>
            <a:ext cx="4846320" cy="713232"/>
          </a:xfrm>
          <a:prstGeom prst="roundRect">
            <a:avLst>
              <a:gd name="adj" fmla="val 23077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777240" y="4233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307592" y="4297680"/>
            <a:ext cx="4133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— да или нет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/ false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85800" y="5029200"/>
            <a:ext cx="4846320" cy="713232"/>
          </a:xfrm>
          <a:prstGeom prst="roundRect">
            <a:avLst>
              <a:gd name="adj" fmla="val 23077"/>
            </a:avLst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777240" y="5102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307592" y="5166360"/>
            <a:ext cx="4133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— список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значений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42316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строки и числа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и числа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4864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числами считают, со строками собирают текст.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486400" cy="2697480"/>
          </a:xfrm>
          <a:prstGeom prst="roundRect">
            <a:avLst>
              <a:gd name="adj" fmla="val 6102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868680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69848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271016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508760" y="24323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data.php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3544" y="2770632"/>
            <a:ext cx="501091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10;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3;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 + $b; // 13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"Лена";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"Привет, " . $name;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903720" y="2331720"/>
            <a:ext cx="4160520" cy="2331720"/>
          </a:xfrm>
          <a:prstGeom prst="roundRect">
            <a:avLst>
              <a:gd name="adj" fmla="val 7843"/>
            </a:avLst>
          </a:prstGeom>
          <a:solidFill>
            <a:srgbClr val="F2F7FF"/>
          </a:solidFill>
          <a:ln w="12700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22376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3127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PHP точка . склеивает строки.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 + складывает числа.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903720" y="4983480"/>
            <a:ext cx="4160520" cy="685800"/>
          </a:xfrm>
          <a:prstGeom prst="roundRect">
            <a:avLst>
              <a:gd name="adj" fmla="val 22667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132320" y="5148072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Попробуй изменить имя и числа — результат сразу поменяется.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51460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линейный скрипт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Линейный скрипт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03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выполняются сверху вниз, как рецепт.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40280" y="3246120"/>
            <a:ext cx="0" cy="54864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240280" y="4526280"/>
            <a:ext cx="0" cy="54864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22960" y="2542032"/>
            <a:ext cx="2834640" cy="658368"/>
          </a:xfrm>
          <a:prstGeom prst="roundRect">
            <a:avLst>
              <a:gd name="adj" fmla="val 25000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44752" y="2679192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Взяли данные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822192"/>
            <a:ext cx="2834640" cy="65836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14400" y="38953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44752" y="3959352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Посчитали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5102352"/>
            <a:ext cx="2834640" cy="658368"/>
          </a:xfrm>
          <a:prstGeom prst="roundRect">
            <a:avLst>
              <a:gd name="adj" fmla="val 25000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44752" y="5239512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Вывели ответ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0" y="2240280"/>
            <a:ext cx="6309360" cy="2148840"/>
          </a:xfrm>
          <a:prstGeom prst="roundRect">
            <a:avLst>
              <a:gd name="adj" fmla="val 7660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754880" y="238658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956048" y="238658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157216" y="238658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394960" y="23408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linear.php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9744" y="2679192"/>
            <a:ext cx="583387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$price = 100;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$count = 3;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= $price * $count;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"Итого: " . $total;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4617720" y="4983480"/>
            <a:ext cx="5669280" cy="685800"/>
          </a:xfrm>
          <a:prstGeom prst="roundRect">
            <a:avLst>
              <a:gd name="adj" fmla="val 22667"/>
            </a:avLst>
          </a:prstGeom>
          <a:solidFill>
            <a:srgbClr val="EE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846320" y="5148072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Линейный сценарий — лучший старт: одна команда за другой.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33172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PHP + 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59" y="941832"/>
            <a:ext cx="71687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можно вставлять в HTML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943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сервер создаёт страницу с переменными данными.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577840" cy="2468880"/>
          </a:xfrm>
          <a:prstGeom prst="roundRect">
            <a:avLst>
              <a:gd name="adj" fmla="val 6667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868680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69848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271016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508760" y="2432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profile.php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3544" y="2770632"/>
            <a:ext cx="510235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&lt;h1&gt;Профиль&lt;/h1&gt;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= "Аня";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"&lt;p&gt;Привет, $name!&lt;/p&gt;";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903720" y="2240280"/>
            <a:ext cx="41148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903720" y="224028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086600" y="24048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315200" y="24048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7543800" y="24048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086600" y="2953512"/>
            <a:ext cx="3749040" cy="1097280"/>
          </a:xfrm>
          <a:prstGeom prst="roundRect">
            <a:avLst>
              <a:gd name="adj" fmla="val 11667"/>
            </a:avLst>
          </a:prstGeom>
          <a:solidFill>
            <a:srgbClr val="E7F4FF"/>
          </a:solidFill>
          <a:ln w="12700">
            <a:solidFill>
              <a:srgbClr val="E7F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141464" y="2971800"/>
            <a:ext cx="3602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Привет, Аня!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выглядит готовый HTML.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09360" y="3429000"/>
            <a:ext cx="530352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9921240" cy="566928"/>
          </a:xfrm>
          <a:prstGeom prst="roundRect">
            <a:avLst>
              <a:gd name="adj" fmla="val 27419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1005840" y="5422392"/>
            <a:ext cx="9464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похоже на конструктор: HTML — каркас, PHP — умная начинка.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33172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ввод данных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59" y="941832"/>
            <a:ext cx="9230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Формы: пользователь вводит данные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636422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может принять имя, возраст или ответ из формы.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406908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1560" y="3108960"/>
            <a:ext cx="3246120" cy="411480"/>
          </a:xfrm>
          <a:prstGeom prst="roundRect">
            <a:avLst>
              <a:gd name="adj" fmla="val 17778"/>
            </a:avLst>
          </a:prstGeom>
          <a:solidFill>
            <a:srgbClr val="F2F4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051560" y="3730752"/>
            <a:ext cx="164592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243584" y="38770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Отправить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3566160"/>
            <a:ext cx="128016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446520" y="2514600"/>
            <a:ext cx="4343400" cy="1600200"/>
          </a:xfrm>
          <a:prstGeom prst="roundRect">
            <a:avLst>
              <a:gd name="adj" fmla="val 10286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629400" y="266090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830568" y="266090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031736" y="266090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269480" y="26151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form.php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84264" y="2953512"/>
            <a:ext cx="38679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$_GET["name"];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"Привет, " . $name;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914400" y="5257800"/>
            <a:ext cx="9738360" cy="594360"/>
          </a:xfrm>
          <a:prstGeom prst="roundRect">
            <a:avLst>
              <a:gd name="adj" fmla="val 26154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143000" y="5422392"/>
            <a:ext cx="9281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следующих занятиях формы помогут сделать регистрацию и личный кабинет.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169164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ошибки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94183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— это подсказки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61264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скрипт не работает, компьютер пытается сказать, где искать проблему.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4892040" cy="758952"/>
          </a:xfrm>
          <a:prstGeom prst="roundRect">
            <a:avLst>
              <a:gd name="adj" fmla="val 21687"/>
            </a:avLst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22960" y="2587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53312" y="2651760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error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синтаксиса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493008"/>
            <a:ext cx="4892040" cy="758952"/>
          </a:xfrm>
          <a:prstGeom prst="roundRect">
            <a:avLst>
              <a:gd name="adj" fmla="val 21687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53312" y="3630168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variable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не создана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471416"/>
            <a:ext cx="4892040" cy="758952"/>
          </a:xfrm>
          <a:prstGeom prst="roundRect">
            <a:avLst>
              <a:gd name="adj" fmla="val 21687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22960" y="4544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53312" y="4608576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или адрес не найден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2377440"/>
            <a:ext cx="4480560" cy="1828800"/>
          </a:xfrm>
          <a:prstGeom prst="roundRect">
            <a:avLst>
              <a:gd name="adj" fmla="val 9000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6583680" y="252374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784848" y="252374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986016" y="252374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223760" y="2478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bug.php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38544" y="2816352"/>
            <a:ext cx="40050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"Привет"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забыли ;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6400800" y="4709160"/>
            <a:ext cx="4480560" cy="841248"/>
          </a:xfrm>
          <a:prstGeom prst="roundRect">
            <a:avLst>
              <a:gd name="adj" fmla="val 18478"/>
            </a:avLst>
          </a:prstGeom>
          <a:solidFill>
            <a:srgbClr val="E9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466114" y="4805265"/>
            <a:ext cx="4372574" cy="671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Совет: читай ошибку сверху вниз и проверяй строку, которую она показывает.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22376" y="50292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• мини-проект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59" y="941832"/>
            <a:ext cx="85589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Мини-проект: генератор приветствия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59" y="1591056"/>
            <a:ext cx="68305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Соберём маленькую страницу, которая сама подставляет имя.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212080" cy="2697480"/>
          </a:xfrm>
          <a:prstGeom prst="roundRect">
            <a:avLst>
              <a:gd name="adj" fmla="val 6102"/>
            </a:avLst>
          </a:prstGeom>
          <a:solidFill>
            <a:srgbClr val="1D2437"/>
          </a:solidFill>
          <a:ln w="12700">
            <a:solidFill>
              <a:srgbClr val="2C3858"/>
            </a:solidFill>
            <a:prstDash val="solid"/>
          </a:ln>
          <a:effectLst>
            <a:outerShdw blurRad="381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868680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69848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271016" y="2478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508760" y="24323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quest.php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3544" y="2770632"/>
            <a:ext cx="473659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= "Маша";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$level = 1;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"Привет, $name!";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"&lt;br&gt;Твой уровень: $level";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8F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675120" y="2240280"/>
            <a:ext cx="429768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675120" y="2240280"/>
            <a:ext cx="4297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858000" y="24048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086600" y="24048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7315200" y="24048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858000" y="2953512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E7F4FF"/>
          </a:solidFill>
          <a:ln w="12700">
            <a:solidFill>
              <a:srgbClr val="E7F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912864" y="2953512"/>
            <a:ext cx="3785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Привет, Маша!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 уровень: 1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Готово: PHP создал текст.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" y="5394960"/>
            <a:ext cx="9875520" cy="566928"/>
          </a:xfrm>
          <a:prstGeom prst="roundRect">
            <a:avLst>
              <a:gd name="adj" fmla="val 27419"/>
            </a:avLst>
          </a:prstGeom>
          <a:solidFill>
            <a:srgbClr val="E6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960120" y="5559552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Усложнение: добавь переменную $coins и выведи количество монет.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744200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web-приложений • курс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07608" y="612648"/>
            <a:ext cx="5404104" cy="5404104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/mnt/data/crop_col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40080"/>
            <a:ext cx="5349240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" y="5029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941832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теперь знаем?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5029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6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 сделал первый шаг к серверной web-разработке.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2423160"/>
            <a:ext cx="5029200" cy="2468880"/>
          </a:xfrm>
          <a:prstGeom prst="roundRect">
            <a:avLst>
              <a:gd name="adj" fmla="val 7407"/>
            </a:avLst>
          </a:prstGeom>
          <a:solidFill>
            <a:srgbClr val="F3EEFF"/>
          </a:solidFill>
          <a:ln w="12700">
            <a:solidFill>
              <a:srgbClr val="E2D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14400" y="2670048"/>
            <a:ext cx="4480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просит, сервер отвечает;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сервер помогает учиться;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выполняется на сервере;</a:t>
            </a:r>
            <a:endParaRPr lang="en-US" sz="2000" dirty="0"/>
          </a:p>
          <a:p>
            <a:r>
              <a:rPr lang="en-US" sz="20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и типы данных — основа скриптов.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85800" y="5257800"/>
            <a:ext cx="5029200" cy="685800"/>
          </a:xfrm>
          <a:prstGeom prst="roundRect">
            <a:avLst>
              <a:gd name="adj" fmla="val 22667"/>
            </a:avLst>
          </a:prstGeom>
          <a:solidFill>
            <a:srgbClr val="FFF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914400" y="5422392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цель: больше практики — условия, циклы, формы и авторизация.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1280</Words>
  <Application>Microsoft Office PowerPoint</Application>
  <PresentationFormat>Широкоэкранный</PresentationFormat>
  <Paragraphs>312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Клиент-сервер и PHP</dc:title>
  <dc:subject>Технология клиент-сервер. Сервера. Язык PHP</dc:subject>
  <dc:creator>OpenAI</dc:creator>
  <cp:lastModifiedBy>nikintosik.ogorodnik@bk.ru</cp:lastModifiedBy>
  <cp:revision>4</cp:revision>
  <dcterms:created xsi:type="dcterms:W3CDTF">2026-09-25T16:21:57Z</dcterms:created>
  <dcterms:modified xsi:type="dcterms:W3CDTF">2026-09-26T15:21:31Z</dcterms:modified>
</cp:coreProperties>
</file>